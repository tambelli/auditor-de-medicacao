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7E82"/>
                </a:solidFill>
                <a:latin typeface="Aptos"/>
              </a:defRPr>
            </a:pPr>
            <a:r>
              <a:t>PROJETO DIRIGIDO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5486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162B46"/>
                </a:solidFill>
                <a:latin typeface="Aptos"/>
              </a:defRPr>
            </a:pPr>
            <a:r>
              <a:t>Auditor Visual</a:t>
            </a:r>
            <a:br/>
            <a:r>
              <a:t>de Medicação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880360"/>
            <a:ext cx="52120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2D3741"/>
                </a:solidFill>
                <a:latin typeface="Aptos"/>
              </a:defRPr>
            </a:pPr>
            <a:r>
              <a:t>Monitoramento inteligente de um organizador de medicamentos,</a:t>
            </a:r>
            <a:br/>
            <a:r>
              <a:t>com câmera e ESP32-S3 para detectar a retirada da dose.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8076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6707A"/>
                </a:solidFill>
                <a:latin typeface="Aptos"/>
              </a:defRPr>
            </a:pPr>
            <a:r>
              <a:t>PCS 3858 • Laboratório de Sistemas Embarcados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12280" y="1143000"/>
            <a:ext cx="438912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52360" y="1965960"/>
            <a:ext cx="3108960" cy="233172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26679" y="2286000"/>
            <a:ext cx="438912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85048" y="2286000"/>
            <a:ext cx="438912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43415" y="2286000"/>
            <a:ext cx="438912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701784" y="2286000"/>
            <a:ext cx="438912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26679" y="3108960"/>
            <a:ext cx="438912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85048" y="3108960"/>
            <a:ext cx="438912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43415" y="3108960"/>
            <a:ext cx="438912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701784" y="3108960"/>
            <a:ext cx="438912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79408" y="2359152"/>
            <a:ext cx="438912" cy="502920"/>
          </a:xfrm>
          <a:prstGeom prst="roundRect">
            <a:avLst>
              <a:gd name="adj" fmla="val 8000"/>
            </a:avLst>
          </a:prstGeom>
          <a:solidFill>
            <a:srgbClr val="E1F2F1"/>
          </a:solidFill>
          <a:ln>
            <a:solidFill>
              <a:srgbClr val="147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0" y="1417320"/>
            <a:ext cx="1005840" cy="411480"/>
          </a:xfrm>
          <a:prstGeom prst="roundRect">
            <a:avLst>
              <a:gd name="adj" fmla="val 8000"/>
            </a:avLst>
          </a:prstGeom>
          <a:solidFill>
            <a:srgbClr val="162B46"/>
          </a:solidFill>
          <a:ln>
            <a:solidFill>
              <a:srgbClr val="16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847088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62B46"/>
                </a:solidFill>
                <a:latin typeface="Aptos"/>
              </a:defRPr>
            </a:pPr>
            <a:r>
              <a:t>câmera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4572000"/>
            <a:ext cx="2286000" cy="548640"/>
          </a:xfrm>
          <a:prstGeom prst="roundRect">
            <a:avLst>
              <a:gd name="adj" fmla="val 8000"/>
            </a:avLst>
          </a:prstGeom>
          <a:solidFill>
            <a:srgbClr val="162B46"/>
          </a:solidFill>
          <a:ln>
            <a:solidFill>
              <a:srgbClr val="16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64515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ESP32-S3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8961120" y="1828800"/>
            <a:ext cx="685800" cy="2743200"/>
          </a:xfrm>
          <a:prstGeom prst="line">
            <a:avLst/>
          </a:prstGeom>
          <a:ln w="17780">
            <a:solidFill>
              <a:srgbClr val="147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452360" y="5257800"/>
            <a:ext cx="3200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66707A"/>
                </a:solidFill>
                <a:latin typeface="Aptos"/>
              </a:defRPr>
            </a:pPr>
            <a:r>
              <a:t>captura + análise + alerta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46520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6707A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7E82"/>
                </a:solidFill>
                <a:latin typeface="Aptos"/>
              </a:defRPr>
            </a:pPr>
            <a:r>
              <a:t>A IDEIA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62B46"/>
                </a:solidFill>
                <a:latin typeface="Aptos"/>
              </a:defRPr>
            </a:pPr>
            <a:r>
              <a:t>Uma solução simples para verificar a retirada da dose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280160"/>
            <a:ext cx="11000232" cy="0"/>
          </a:xfrm>
          <a:prstGeom prst="line">
            <a:avLst/>
          </a:prstGeom>
          <a:ln w="10160">
            <a:solidFill>
              <a:srgbClr val="DCE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6446520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6707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0">
                <a:solidFill>
                  <a:srgbClr val="2D3741"/>
                </a:solidFill>
                <a:latin typeface="Aptos"/>
              </a:defRPr>
            </a:pPr>
            <a:r>
              <a:t>O protótipo usa um organizador convencional e acrescenta</a:t>
            </a:r>
            <a:br/>
            <a:r>
              <a:t>uma camada de monitoramento.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788920"/>
            <a:ext cx="5349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A câmera observa um ou mais compartimentos em horários programados.</a:t>
            </a:r>
          </a:p>
          <a:p>
            <a:pPr>
              <a:spcAft>
                <a:spcPts val="10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O ESP32-S3 compara o estado visual antes e depois do horário da dose.</a:t>
            </a:r>
          </a:p>
          <a:p>
            <a:pPr>
              <a:spcAft>
                <a:spcPts val="10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Quando a dose aparentemente não foi retirada, o sistema gera um alerta.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737360"/>
            <a:ext cx="4800600" cy="3611880"/>
          </a:xfrm>
          <a:prstGeom prst="roundRect">
            <a:avLst>
              <a:gd name="adj" fmla="val 8000"/>
            </a:avLst>
          </a:prstGeom>
          <a:solidFill>
            <a:srgbClr val="F7F9FA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12280" y="2331720"/>
            <a:ext cx="71323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2459736"/>
            <a:ext cx="7132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47E8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832" y="3182112"/>
            <a:ext cx="1033271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62B46"/>
                </a:solidFill>
                <a:latin typeface="Aptos"/>
              </a:defRPr>
            </a:pPr>
            <a:r>
              <a:t>1. Horário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93008"/>
            <a:ext cx="107899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6707A"/>
                </a:solidFill>
                <a:latin typeface="Aptos"/>
              </a:defRPr>
            </a:pPr>
            <a:r>
              <a:t>dose programada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525512" y="2688336"/>
            <a:ext cx="365760" cy="0"/>
          </a:xfrm>
          <a:prstGeom prst="line">
            <a:avLst/>
          </a:prstGeom>
          <a:ln w="19050">
            <a:solidFill>
              <a:srgbClr val="147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891272" y="2331720"/>
            <a:ext cx="71323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91272" y="2459736"/>
            <a:ext cx="7132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47E8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24" y="3182112"/>
            <a:ext cx="1033271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62B46"/>
                </a:solidFill>
                <a:latin typeface="Aptos"/>
              </a:defRPr>
            </a:pPr>
            <a:r>
              <a:t>2. Imagem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08392" y="3493008"/>
            <a:ext cx="107899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6707A"/>
                </a:solidFill>
                <a:latin typeface="Aptos"/>
              </a:defRPr>
            </a:pPr>
            <a:r>
              <a:t>compartimento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04504" y="2688336"/>
            <a:ext cx="365760" cy="0"/>
          </a:xfrm>
          <a:prstGeom prst="line">
            <a:avLst/>
          </a:prstGeom>
          <a:ln w="19050">
            <a:solidFill>
              <a:srgbClr val="147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970264" y="2331720"/>
            <a:ext cx="71323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70264" y="2459736"/>
            <a:ext cx="7132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47E8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14816" y="3182112"/>
            <a:ext cx="1033271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62B46"/>
                </a:solidFill>
                <a:latin typeface="Aptos"/>
              </a:defRPr>
            </a:pPr>
            <a:r>
              <a:t>3. Análise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87384" y="3493008"/>
            <a:ext cx="107899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6707A"/>
                </a:solidFill>
                <a:latin typeface="Aptos"/>
              </a:defRPr>
            </a:pPr>
            <a:r>
              <a:t>estado visual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683496" y="2688336"/>
            <a:ext cx="365760" cy="0"/>
          </a:xfrm>
          <a:prstGeom prst="line">
            <a:avLst/>
          </a:prstGeom>
          <a:ln w="19050">
            <a:solidFill>
              <a:srgbClr val="147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049256" y="2331720"/>
            <a:ext cx="71323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49256" y="2459736"/>
            <a:ext cx="7132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47E8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93808" y="3182112"/>
            <a:ext cx="1033271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62B46"/>
                </a:solidFill>
                <a:latin typeface="Aptos"/>
              </a:defRPr>
            </a:pPr>
            <a:r>
              <a:t>4. Alerta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66376" y="3493008"/>
            <a:ext cx="107899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6707A"/>
                </a:solidFill>
                <a:latin typeface="Aptos"/>
              </a:defRPr>
            </a:pPr>
            <a:r>
              <a:t>local / Wi-Fi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4343400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7E82"/>
                </a:solidFill>
                <a:latin typeface="Aptos"/>
              </a:defRPr>
            </a:pPr>
            <a:r>
              <a:t>Objetivo do protótipo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4599432"/>
            <a:ext cx="3886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62B46"/>
                </a:solidFill>
                <a:latin typeface="Aptos"/>
              </a:defRPr>
            </a:pPr>
            <a:r>
              <a:t>Detectar a mudança “dose presente → dose retirada”</a:t>
            </a:r>
            <a:br/>
            <a:r>
              <a:t>em um cenário controlado.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92840" y="6446520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6707A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7E82"/>
                </a:solidFill>
                <a:latin typeface="Aptos"/>
              </a:defRPr>
            </a:pPr>
            <a:r>
              <a:t>FUNCIONAMENTO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62B46"/>
                </a:solidFill>
                <a:latin typeface="Aptos"/>
              </a:defRPr>
            </a:pPr>
            <a:r>
              <a:t>Do horário programado ao alerta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280160"/>
            <a:ext cx="11000232" cy="0"/>
          </a:xfrm>
          <a:prstGeom prst="line">
            <a:avLst/>
          </a:prstGeom>
          <a:ln w="10160">
            <a:solidFill>
              <a:srgbClr val="DCE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6446520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6707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20574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029968"/>
            <a:ext cx="475488" cy="475488"/>
          </a:xfrm>
          <a:prstGeom prst="roundRect">
            <a:avLst>
              <a:gd name="adj" fmla="val 8000"/>
            </a:avLst>
          </a:prstGeom>
          <a:solidFill>
            <a:srgbClr val="E1F2F1"/>
          </a:solidFill>
          <a:ln>
            <a:solidFill>
              <a:srgbClr val="E1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12264"/>
            <a:ext cx="4754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7E8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62B46"/>
                </a:solidFill>
                <a:latin typeface="Aptos"/>
              </a:defRPr>
            </a:pPr>
            <a:r>
              <a:t>Horário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173736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6707A"/>
                </a:solidFill>
                <a:latin typeface="Aptos"/>
              </a:defRPr>
            </a:pPr>
            <a:r>
              <a:t>define o momento da dose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34640" y="2898648"/>
            <a:ext cx="685800" cy="0"/>
          </a:xfrm>
          <a:prstGeom prst="line">
            <a:avLst/>
          </a:prstGeom>
          <a:ln w="20320">
            <a:solidFill>
              <a:srgbClr val="147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38728" y="1874519"/>
            <a:ext cx="20574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75888" y="2029968"/>
            <a:ext cx="475488" cy="475488"/>
          </a:xfrm>
          <a:prstGeom prst="roundRect">
            <a:avLst>
              <a:gd name="adj" fmla="val 8000"/>
            </a:avLst>
          </a:prstGeom>
          <a:solidFill>
            <a:srgbClr val="E1F2F1"/>
          </a:solidFill>
          <a:ln>
            <a:solidFill>
              <a:srgbClr val="E1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5888" y="2112264"/>
            <a:ext cx="4754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7E8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8" y="269748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62B46"/>
                </a:solidFill>
                <a:latin typeface="Aptos"/>
              </a:defRPr>
            </a:pPr>
            <a:r>
              <a:t>Captura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8" y="3127248"/>
            <a:ext cx="173736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6707A"/>
                </a:solidFill>
                <a:latin typeface="Aptos"/>
              </a:defRPr>
            </a:pPr>
            <a:r>
              <a:t>câmera registra o compartimento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596128" y="2898648"/>
            <a:ext cx="685800" cy="0"/>
          </a:xfrm>
          <a:prstGeom prst="line">
            <a:avLst/>
          </a:prstGeom>
          <a:ln w="20320">
            <a:solidFill>
              <a:srgbClr val="147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0216" y="1874519"/>
            <a:ext cx="20574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37376" y="2029968"/>
            <a:ext cx="475488" cy="475488"/>
          </a:xfrm>
          <a:prstGeom prst="roundRect">
            <a:avLst>
              <a:gd name="adj" fmla="val 8000"/>
            </a:avLst>
          </a:prstGeom>
          <a:solidFill>
            <a:srgbClr val="E1F2F1"/>
          </a:solidFill>
          <a:ln>
            <a:solidFill>
              <a:srgbClr val="E1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2112264"/>
            <a:ext cx="4754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7E8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269748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62B46"/>
                </a:solidFill>
                <a:latin typeface="Aptos"/>
              </a:defRPr>
            </a:pPr>
            <a:r>
              <a:t>Análise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3127248"/>
            <a:ext cx="173736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6707A"/>
                </a:solidFill>
                <a:latin typeface="Aptos"/>
              </a:defRPr>
            </a:pPr>
            <a:r>
              <a:t>compara o estado visual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357616" y="2898648"/>
            <a:ext cx="685800" cy="0"/>
          </a:xfrm>
          <a:prstGeom prst="line">
            <a:avLst/>
          </a:prstGeom>
          <a:ln w="20320">
            <a:solidFill>
              <a:srgbClr val="147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061704" y="1874519"/>
            <a:ext cx="20574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98864" y="2029968"/>
            <a:ext cx="475488" cy="475488"/>
          </a:xfrm>
          <a:prstGeom prst="roundRect">
            <a:avLst>
              <a:gd name="adj" fmla="val 8000"/>
            </a:avLst>
          </a:prstGeom>
          <a:solidFill>
            <a:srgbClr val="E1F2F1"/>
          </a:solidFill>
          <a:ln>
            <a:solidFill>
              <a:srgbClr val="E1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98864" y="2112264"/>
            <a:ext cx="4754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7E8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8864" y="269748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62B46"/>
                </a:solidFill>
                <a:latin typeface="Aptos"/>
              </a:defRPr>
            </a:pPr>
            <a:r>
              <a:t>Alerta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8864" y="3127248"/>
            <a:ext cx="173736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6707A"/>
                </a:solidFill>
                <a:latin typeface="Aptos"/>
              </a:defRPr>
            </a:pPr>
            <a:r>
              <a:t>avisa quando necessário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617720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7E82"/>
                </a:solidFill>
                <a:latin typeface="Aptos"/>
              </a:defRPr>
            </a:pPr>
            <a:r>
              <a:t>Processamento local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937760"/>
            <a:ext cx="4526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D3741"/>
                </a:solidFill>
                <a:latin typeface="Aptos"/>
              </a:defRPr>
            </a:pPr>
            <a:r>
              <a:t>A imagem pode ser analisada no próprio protótipo, sem depender de um servidor externo.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4617720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7E82"/>
                </a:solidFill>
                <a:latin typeface="Aptos"/>
              </a:defRPr>
            </a:pPr>
            <a:r>
              <a:t>Conectividade opcional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4937760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D3741"/>
                </a:solidFill>
                <a:latin typeface="Aptos"/>
              </a:defRPr>
            </a:pPr>
            <a:r>
              <a:t>Wi-Fi pode ser usado apenas para enviar o alerta ou registrar eventos.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46520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6707A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7E82"/>
                </a:solidFill>
                <a:latin typeface="Aptos"/>
              </a:defRPr>
            </a:pPr>
            <a:r>
              <a:t>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62B46"/>
                </a:solidFill>
                <a:latin typeface="Aptos"/>
              </a:defRPr>
            </a:pPr>
            <a:r>
              <a:t>Arquitetura do protótipo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280160"/>
            <a:ext cx="11000232" cy="0"/>
          </a:xfrm>
          <a:prstGeom prst="line">
            <a:avLst/>
          </a:prstGeom>
          <a:ln w="10160">
            <a:solidFill>
              <a:srgbClr val="DCE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6446520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6707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2240280"/>
            <a:ext cx="2788920" cy="960120"/>
          </a:xfrm>
          <a:prstGeom prst="roundRect">
            <a:avLst>
              <a:gd name="adj" fmla="val 8000"/>
            </a:avLst>
          </a:prstGeom>
          <a:solidFill>
            <a:srgbClr val="162B46"/>
          </a:solidFill>
          <a:ln>
            <a:solidFill>
              <a:srgbClr val="16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9160" y="2450592"/>
            <a:ext cx="278892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ESP32-S3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3310128"/>
            <a:ext cx="3886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6707A"/>
                </a:solidFill>
                <a:latin typeface="Aptos"/>
              </a:defRPr>
            </a:pPr>
            <a:r>
              <a:t>512 KB SRAM • 8 MB PSRAM • 16 MB Flash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103120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E1F2F1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04288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62B46"/>
                </a:solidFill>
                <a:latin typeface="Aptos"/>
              </a:defRPr>
            </a:pPr>
            <a:r>
              <a:t>Câmera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33472"/>
            <a:ext cx="2057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6707A"/>
                </a:solidFill>
                <a:latin typeface="Aptos"/>
              </a:defRPr>
            </a:pPr>
            <a:r>
              <a:t>captura da cena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2103120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E1F2F1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2304288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62B46"/>
                </a:solidFill>
                <a:latin typeface="Aptos"/>
              </a:defRPr>
            </a:pPr>
            <a:r>
              <a:t>Buzzer / 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33472"/>
            <a:ext cx="2057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6707A"/>
                </a:solidFill>
                <a:latin typeface="Aptos"/>
              </a:defRPr>
            </a:pPr>
            <a:r>
              <a:t>alerta local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251960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F7F9FA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453128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62B46"/>
                </a:solidFill>
                <a:latin typeface="Aptos"/>
              </a:defRPr>
            </a:pPr>
            <a:r>
              <a:t>Botão / OLED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782312"/>
            <a:ext cx="2057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6707A"/>
                </a:solidFill>
                <a:latin typeface="Aptos"/>
              </a:defRPr>
            </a:pPr>
            <a:r>
              <a:t>configuração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4251960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F7F9FA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4453128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62B46"/>
                </a:solidFill>
                <a:latin typeface="Aptos"/>
              </a:defRPr>
            </a:pPr>
            <a:r>
              <a:t>Wi-Fi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4782312"/>
            <a:ext cx="2057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6707A"/>
                </a:solidFill>
                <a:latin typeface="Aptos"/>
              </a:defRPr>
            </a:pPr>
            <a:r>
              <a:t>alerta remoto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46120" y="2578608"/>
            <a:ext cx="1463040" cy="0"/>
          </a:xfrm>
          <a:prstGeom prst="line">
            <a:avLst/>
          </a:prstGeom>
          <a:ln w="19050">
            <a:solidFill>
              <a:srgbClr val="147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498079" y="2578608"/>
            <a:ext cx="1417321" cy="0"/>
          </a:xfrm>
          <a:prstGeom prst="line">
            <a:avLst/>
          </a:prstGeom>
          <a:ln w="19050">
            <a:solidFill>
              <a:srgbClr val="147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246120" y="3017520"/>
            <a:ext cx="1463040" cy="1719072"/>
          </a:xfrm>
          <a:prstGeom prst="line">
            <a:avLst/>
          </a:prstGeom>
          <a:ln w="19050">
            <a:solidFill>
              <a:srgbClr val="147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498079" y="3017520"/>
            <a:ext cx="1417321" cy="1719072"/>
          </a:xfrm>
          <a:prstGeom prst="line">
            <a:avLst/>
          </a:prstGeom>
          <a:ln w="19050">
            <a:solidFill>
              <a:srgbClr val="147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200400" y="54406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2D3741"/>
                </a:solidFill>
                <a:latin typeface="Aptos"/>
              </a:defRPr>
            </a:pPr>
            <a:r>
              <a:t>A Waveshare ESP32-S3-ETH que o grupo já possui será o controlador principal.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46520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6707A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7E82"/>
                </a:solidFill>
                <a:latin typeface="Aptos"/>
              </a:defRPr>
            </a:pPr>
            <a:r>
              <a:t>EXECUÇÃO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62B46"/>
                </a:solidFill>
                <a:latin typeface="Aptos"/>
              </a:defRPr>
            </a:pPr>
            <a:r>
              <a:t>Metodologia e viabilidade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280160"/>
            <a:ext cx="11000232" cy="0"/>
          </a:xfrm>
          <a:prstGeom prst="line">
            <a:avLst/>
          </a:prstGeom>
          <a:ln w="10160">
            <a:solidFill>
              <a:srgbClr val="DCE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6446520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6707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539496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62B46"/>
                </a:solidFill>
                <a:latin typeface="Aptos"/>
              </a:defRPr>
            </a:pPr>
            <a:r>
              <a:t>Abordagem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42032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7E82"/>
                </a:solidFill>
                <a:latin typeface="Aptos"/>
              </a:defRPr>
            </a:pPr>
            <a:r>
              <a:t>Top-down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2542032"/>
            <a:ext cx="3611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D3741"/>
                </a:solidFill>
                <a:latin typeface="Aptos"/>
              </a:defRPr>
            </a:pPr>
            <a:r>
              <a:t>decompor o sistema em funções menores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83279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7E82"/>
                </a:solidFill>
                <a:latin typeface="Aptos"/>
              </a:defRPr>
            </a:pPr>
            <a:r>
              <a:t>Bottom-up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383279"/>
            <a:ext cx="3611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D3741"/>
                </a:solidFill>
                <a:latin typeface="Aptos"/>
              </a:defRPr>
            </a:pPr>
            <a:r>
              <a:t>testar câmera, interface e alerta separadamente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224528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7E82"/>
                </a:solidFill>
                <a:latin typeface="Aptos"/>
              </a:defRPr>
            </a:pPr>
            <a:r>
              <a:t>Espiral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4224528"/>
            <a:ext cx="3611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D3741"/>
                </a:solidFill>
                <a:latin typeface="Aptos"/>
              </a:defRPr>
            </a:pPr>
            <a:r>
              <a:t>ajustar o protótipo com testes sucessivos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0749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62B46"/>
                </a:solidFill>
                <a:latin typeface="Aptos"/>
              </a:defRPr>
            </a:pPr>
            <a:r>
              <a:t>Escopo do protótipo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413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D3741"/>
                </a:solidFill>
                <a:latin typeface="Aptos"/>
              </a:defRPr>
            </a:pPr>
            <a:r>
              <a:t>detecção da retirada em cenário controlado + alerta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691640"/>
            <a:ext cx="5138928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196596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62B46"/>
                </a:solidFill>
                <a:latin typeface="Aptos"/>
              </a:defRPr>
            </a:pPr>
            <a:r>
              <a:t>Custo preliminar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542032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47E82"/>
                </a:solidFill>
                <a:latin typeface="Aptos"/>
              </a:defRPr>
            </a:pPr>
            <a:r>
              <a:t>≈ R$ 92,24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127248"/>
            <a:ext cx="4023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6707A"/>
                </a:solidFill>
                <a:latin typeface="Aptos"/>
              </a:defRPr>
            </a:pPr>
            <a:r>
              <a:t>itens adicionais, sem considerar o ESP32-S3</a:t>
            </a:r>
            <a:br/>
            <a:r>
              <a:t>que já está disponível com o grupo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977639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62B46"/>
                </a:solidFill>
                <a:latin typeface="Aptos"/>
              </a:defRPr>
            </a:pPr>
            <a:r>
              <a:t>Principais compras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315968"/>
            <a:ext cx="4206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D3741"/>
                </a:solidFill>
                <a:latin typeface="Aptos"/>
              </a:defRPr>
            </a:pPr>
            <a:r>
              <a:t>• câmera OV2640</a:t>
            </a:r>
          </a:p>
          <a:p>
            <a:pPr>
              <a:spcAft>
                <a:spcPts val="500"/>
              </a:spcAft>
              <a:defRPr sz="1300">
                <a:solidFill>
                  <a:srgbClr val="2D3741"/>
                </a:solidFill>
                <a:latin typeface="Aptos"/>
              </a:defRPr>
            </a:pPr>
            <a:r>
              <a:t>• protoboard + jumpers</a:t>
            </a:r>
          </a:p>
          <a:p>
            <a:pPr>
              <a:spcAft>
                <a:spcPts val="500"/>
              </a:spcAft>
              <a:defRPr sz="1300">
                <a:solidFill>
                  <a:srgbClr val="2D3741"/>
                </a:solidFill>
                <a:latin typeface="Aptos"/>
              </a:defRPr>
            </a:pPr>
            <a:r>
              <a:t>• buzzer, botão e alimentação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5394960"/>
            <a:ext cx="4160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62B46"/>
                </a:solidFill>
                <a:latin typeface="Aptos"/>
              </a:defRPr>
            </a:pPr>
            <a:r>
              <a:t>Resultado esperado: um protótipo funcional, simples e mensurável.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46520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6707A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Auditor Visual de Medicação — Projeto Dirigido</dc:title>
  <dc:subject>PCS 3858 – Laboratório de Sistemas Embarcados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